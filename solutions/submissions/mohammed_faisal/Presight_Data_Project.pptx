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isal" userId="66dcf449-e5eb-43c0-9c97-6eeb63b3dae7" providerId="ADAL" clId="{0B410DBA-8E03-4C22-87AA-38606971F076}"/>
    <pc:docChg chg="custSel modSld">
      <pc:chgData name="Mohammed Faisal" userId="66dcf449-e5eb-43c0-9c97-6eeb63b3dae7" providerId="ADAL" clId="{0B410DBA-8E03-4C22-87AA-38606971F076}" dt="2026-09-27T17:56:15.534" v="1" actId="313"/>
      <pc:docMkLst>
        <pc:docMk/>
      </pc:docMkLst>
      <pc:sldChg chg="modSp mod">
        <pc:chgData name="Mohammed Faisal" userId="66dcf449-e5eb-43c0-9c97-6eeb63b3dae7" providerId="ADAL" clId="{0B410DBA-8E03-4C22-87AA-38606971F076}" dt="2026-09-27T17:55:52.508" v="0" actId="33524"/>
        <pc:sldMkLst>
          <pc:docMk/>
          <pc:sldMk cId="0" sldId="256"/>
        </pc:sldMkLst>
        <pc:spChg chg="mod">
          <ac:chgData name="Mohammed Faisal" userId="66dcf449-e5eb-43c0-9c97-6eeb63b3dae7" providerId="ADAL" clId="{0B410DBA-8E03-4C22-87AA-38606971F076}" dt="2026-09-27T17:55:52.508" v="0" actId="33524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Mohammed Faisal" userId="66dcf449-e5eb-43c0-9c97-6eeb63b3dae7" providerId="ADAL" clId="{0B410DBA-8E03-4C22-87AA-38606971F076}" dt="2026-09-27T17:56:15.534" v="1" actId="313"/>
        <pc:sldMkLst>
          <pc:docMk/>
          <pc:sldMk cId="0" sldId="257"/>
        </pc:sldMkLst>
        <pc:spChg chg="mod">
          <ac:chgData name="Mohammed Faisal" userId="66dcf449-e5eb-43c0-9c97-6eeb63b3dae7" providerId="ADAL" clId="{0B410DBA-8E03-4C22-87AA-38606971F076}" dt="2026-09-27T17:56:15.534" v="1" actId="313"/>
          <ac:spMkLst>
            <pc:docMk/>
            <pc:sldMk cId="0" sldId="257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9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5120640"/>
            <a:ext cx="822960" cy="822960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914400"/>
            <a:ext cx="502920" cy="502920"/>
          </a:xfrm>
          <a:prstGeom prst="ellipse">
            <a:avLst/>
          </a:prstGeom>
          <a:solidFill>
            <a:srgbClr val="C45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A63A"/>
                </a:solidFill>
                <a:latin typeface="Segoe UI"/>
              </a:rPr>
              <a:t>DATA ENGINEERING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4980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222220"/>
                </a:solidFill>
                <a:latin typeface="Segoe UI Semibold"/>
              </a:rPr>
              <a:t>How Raw Files Became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222220"/>
                </a:solidFill>
                <a:latin typeface="Segoe UI Semibold"/>
              </a:rPr>
              <a:t>a Working Data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7040880" cy="781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6E6A5E"/>
                </a:solidFill>
                <a:latin typeface="Segoe UI"/>
              </a:rPr>
              <a:t>A walk-through of the pipeline I </a:t>
            </a:r>
            <a:r>
              <a:rPr lang="en-US" sz="1400" b="0" i="0" dirty="0">
                <a:solidFill>
                  <a:srgbClr val="6E6A5E"/>
                </a:solidFill>
                <a:latin typeface="Segoe UI"/>
              </a:rPr>
              <a:t>built</a:t>
            </a:r>
            <a:r>
              <a:rPr sz="1400" b="0" i="0" dirty="0">
                <a:solidFill>
                  <a:srgbClr val="6E6A5E"/>
                </a:solidFill>
                <a:latin typeface="Segoe UI"/>
              </a:rPr>
              <a:t> cleaning messy source files, modelling them into a warehouse that keeps history, scaling up to real event volumes, and packaging the whole thing so someone else can run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623560"/>
            <a:ext cx="365760" cy="45720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220"/>
                </a:solidFill>
                <a:latin typeface="Segoe UI"/>
              </a:rPr>
              <a:t>Mohammed Faisal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35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E"/>
                </a:solidFill>
                <a:latin typeface="Segoe UI"/>
              </a:rPr>
              <a:t>Presight Data Engineering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2220"/>
                </a:solidFill>
                <a:latin typeface="Segoe UI Semibold"/>
              </a:rPr>
              <a:t>The Shape of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E6A5E"/>
                </a:solidFill>
                <a:latin typeface="Segoe UI"/>
              </a:rPr>
              <a:t>Four stages, run in order — each one hands its output to the next. Nothing here is a diagram of intent; every stage below was actually executed against the real datasets.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246120"/>
            <a:ext cx="7900416" cy="18288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19" y="3026663"/>
            <a:ext cx="457200" cy="457200"/>
          </a:xfrm>
          <a:prstGeom prst="ellipse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302666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2220"/>
                </a:solidFill>
                <a:latin typeface="Segoe UI Semibold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6E6A5E"/>
                </a:solidFill>
                <a:latin typeface="Segoe UI"/>
              </a:rPr>
              <a:t>Clean the raw files and design a warehouse that remembers history, not just today's snapshot.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0A63A"/>
                </a:solidFill>
                <a:latin typeface="Segoe UI"/>
              </a:rPr>
              <a:t>500 + 1,000 + ~1,826 source rows</a:t>
            </a:r>
          </a:p>
        </p:txBody>
      </p:sp>
      <p:sp>
        <p:nvSpPr>
          <p:cNvPr id="12" name="Oval 11"/>
          <p:cNvSpPr/>
          <p:nvPr/>
        </p:nvSpPr>
        <p:spPr>
          <a:xfrm>
            <a:off x="3593592" y="3026663"/>
            <a:ext cx="457200" cy="457200"/>
          </a:xfrm>
          <a:prstGeom prst="ellipse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302666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2220"/>
                </a:solidFill>
                <a:latin typeface="Segoe UI Semibold"/>
              </a:rPr>
              <a:t>SQL &amp;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4069080"/>
            <a:ext cx="2377440" cy="338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6E6A5E"/>
                </a:solidFill>
                <a:latin typeface="Segoe UI"/>
              </a:rPr>
              <a:t>Answer real business questions and prove a query optimization actually works.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52120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0A63A"/>
                </a:solidFill>
                <a:latin typeface="Segoe UI"/>
              </a:rPr>
              <a:t>50,000 transactions cleaned</a:t>
            </a:r>
          </a:p>
        </p:txBody>
      </p:sp>
      <p:sp>
        <p:nvSpPr>
          <p:cNvPr id="17" name="Oval 16"/>
          <p:cNvSpPr/>
          <p:nvPr/>
        </p:nvSpPr>
        <p:spPr>
          <a:xfrm>
            <a:off x="6227064" y="3026663"/>
            <a:ext cx="457200" cy="457200"/>
          </a:xfrm>
          <a:prstGeom prst="ellipse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302666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2220"/>
                </a:solidFill>
                <a:latin typeface="Segoe UI Semibold"/>
              </a:rPr>
              <a:t>Big Data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40690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A5E"/>
                </a:solidFill>
                <a:latin typeface="Segoe UI"/>
              </a:rPr>
              <a:t>Handle the same data at a bigger scale — batch, streaming, and on a schedule.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52120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0A63A"/>
                </a:solidFill>
                <a:latin typeface="Segoe UI"/>
              </a:rPr>
              <a:t>~100,000 events processed</a:t>
            </a:r>
          </a:p>
        </p:txBody>
      </p:sp>
      <p:sp>
        <p:nvSpPr>
          <p:cNvPr id="22" name="Oval 21"/>
          <p:cNvSpPr/>
          <p:nvPr/>
        </p:nvSpPr>
        <p:spPr>
          <a:xfrm>
            <a:off x="8860536" y="3026663"/>
            <a:ext cx="457200" cy="457200"/>
          </a:xfrm>
          <a:prstGeom prst="ellipse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0536" y="302666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2220"/>
                </a:solidFill>
                <a:latin typeface="Segoe UI Semibold"/>
              </a:rPr>
              <a:t>Infrastructure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40690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A5E"/>
                </a:solidFill>
                <a:latin typeface="Segoe UI"/>
              </a:rPr>
              <a:t>Package it, document who can access what, and check its quality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52120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0A63A"/>
                </a:solidFill>
                <a:latin typeface="Segoe UI"/>
              </a:rPr>
              <a:t>Runs in one 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638044" cy="54864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22220"/>
                </a:solidFill>
                <a:latin typeface="Segoe UI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7852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7852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SQL &amp; Viz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5624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Big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96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3396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Infra &amp; 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STAGE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220"/>
                </a:solidFill>
                <a:latin typeface="Segoe UI Semibold"/>
              </a:rP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E6A5E"/>
                </a:solidFill>
                <a:latin typeface="Segoe UI"/>
              </a:rPr>
              <a:t>Cleaning two files, then building a warehouse that remembers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6858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I built: </a:t>
            </a:r>
            <a:r>
              <a:rPr sz="1200" b="0">
                <a:solidFill>
                  <a:srgbClr val="222220"/>
                </a:solidFill>
                <a:latin typeface="Segoe UI"/>
              </a:rPr>
              <a:t>a Python cleaning step for the project and employee files, and a star-schema warehouse with one table designed specifically to keep an employee's salary and role history, not just where they stand today.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I found: </a:t>
            </a:r>
            <a:r>
              <a:rPr sz="1200" b="0">
                <a:solidFill>
                  <a:srgbClr val="222220"/>
                </a:solidFill>
                <a:latin typeface="Segoe UI"/>
              </a:rPr>
              <a:t>checking every row rather than a sample turned up real problems — a handful of hire dates that weren't dates at all, a few salaries that were roughly five times too high for their level, and ten blank email addresses.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How I handled it: </a:t>
            </a:r>
            <a:r>
              <a:rPr sz="1200" b="0">
                <a:solidFill>
                  <a:srgbClr val="222220"/>
                </a:solidFill>
                <a:latin typeface="Segoe UI"/>
              </a:rPr>
              <a:t>nothing was silently dropped. Emails were rebuilt from the person's name, odd salaries were scaled back only when doing so actually landed them in a sensible range, and every fix is logged with how many rows it touched.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286000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2395728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2,231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834640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rows in the history table — 1,000 current versions plus 1,231 past 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401568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3511296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188 / 145 / 167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950207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projects split High / Medium / Low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517136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46268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0 / 0 /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06577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duplicate current rows, overlapping periods, or gaps found on checking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638044" cy="54864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22220"/>
                </a:solidFill>
                <a:latin typeface="Segoe UI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7852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7852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SQL &amp; Viz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5624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Big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96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3396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Infra &amp; 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STAGE 01 · TASK 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22220"/>
                </a:solidFill>
                <a:latin typeface="Segoe UI Semibold"/>
              </a:rPr>
              <a:t>The Warehouse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572768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6A5E"/>
                </a:solidFill>
                <a:latin typeface="Segoe UI"/>
              </a:rPr>
              <a:t>PK = primary key · FK = foreign key · UK = unique key · each table names what it joins to, instead of drawn arrows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1783080" cy="21808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828800"/>
            <a:ext cx="1783080" cy="292608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1828800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dim_date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139696"/>
            <a:ext cx="15636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6E6A5E"/>
                </a:solidFill>
                <a:latin typeface="Segoe UI"/>
              </a:rPr>
              <a:t>One row per calendar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30428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date_key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240487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251002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full_date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261061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DATE — 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1576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year / quarter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281635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SMALLINT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292150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month_name / year_month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02209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12724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week / day / day_of_week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322783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SMALLINT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33298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day_name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343357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353872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is_weekend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63931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BOOLEAN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" y="3799332"/>
            <a:ext cx="1563624" cy="10972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3845052"/>
            <a:ext cx="156362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fact_transactions (1 → many)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9424" y="1828800"/>
            <a:ext cx="1965960" cy="31501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49424" y="1828800"/>
            <a:ext cx="1965960" cy="292608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9152" y="1828800"/>
            <a:ext cx="17465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dim_project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9152" y="2139696"/>
            <a:ext cx="17465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6E6A5E"/>
                </a:solidFill>
                <a:latin typeface="Segoe UI"/>
              </a:rPr>
              <a:t>One row per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230428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project_key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9152" y="240487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251002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project_id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59152" y="261061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 — UK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59152" y="271576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project_name / department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59152" y="281635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9152" y="292150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status / status_category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302209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59152" y="312724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start_date / end_date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9152" y="322783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9152" y="333298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budget / actual_cost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59152" y="343357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DECIMAL(18,2)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59152" y="353872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budget_variance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59152" y="363931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DECIMAL(18,2)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59152" y="374446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is_over_budget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59152" y="384505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BOOLEAN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59152" y="395020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budget_utilisation_pct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59152" y="405079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DECIMAL(9,2)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9152" y="415594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risk_level / priority / region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59152" y="425653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9152" y="436168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project_manager_id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59152" y="446227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9152" y="4622291"/>
            <a:ext cx="1746504" cy="10972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359152" y="4668011"/>
            <a:ext cx="17465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fact_transactions (1 → many)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59152" y="4814315"/>
            <a:ext cx="17465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bridge_employee_project (1 → many)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1688" y="1828800"/>
            <a:ext cx="2331720" cy="31501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361688" y="1828800"/>
            <a:ext cx="2331720" cy="292608"/>
          </a:xfrm>
          <a:prstGeom prst="rect">
            <a:avLst/>
          </a:prstGeom>
          <a:solidFill>
            <a:srgbClr val="C45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71416" y="1828800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fact_transactions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71416" y="2139696"/>
            <a:ext cx="21122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6E6A5E"/>
                </a:solidFill>
                <a:latin typeface="Segoe UI"/>
              </a:rPr>
              <a:t>One row per transaction — the fact table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230428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transaction_key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240487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71416" y="251002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transaction_id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71416" y="261061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 — UK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71416" y="271576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project_key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71416" y="281635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FK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71416" y="292150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employee_key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71416" y="302209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FK, nullable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71416" y="312724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vendor_key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71416" y="322783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71416" y="333298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date_key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71416" y="343357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FK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71416" y="353872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amount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71416" y="363931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DECIMAL(18,2)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71416" y="374446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amount_is_missing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71416" y="384505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BOOLEAN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71416" y="395020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category / payment_status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71416" y="405079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71416" y="415594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currency / invoice_ref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71416" y="425653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71416" y="4361688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is_approved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71416" y="4462272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BOOLEAN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71416" y="4622291"/>
            <a:ext cx="2112263" cy="10972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471416" y="4668011"/>
            <a:ext cx="21122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dim_date, dim_project, dim_vendor,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71416" y="4814315"/>
            <a:ext cx="21122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dim_employee (each 1 → many)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39712" y="1828800"/>
            <a:ext cx="1965960" cy="31501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839712" y="1828800"/>
            <a:ext cx="1965960" cy="292608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949440" y="1828800"/>
            <a:ext cx="17465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dim_employee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49440" y="2139696"/>
            <a:ext cx="17465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6E6A5E"/>
                </a:solidFill>
                <a:latin typeface="Segoe UI"/>
              </a:rPr>
              <a:t>One row per employee version (history)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49440" y="230428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employee_key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49440" y="240487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9440" y="251002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employee_id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49440" y="261061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271576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full_name / email / department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49440" y="281635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49440" y="292150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role / level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49440" y="302209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49440" y="312724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salary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49440" y="322783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DECIMAL(12,2)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49440" y="333298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hire_date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49440" y="343357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49440" y="353872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manager_id / region / status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363931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49440" y="374446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years_experience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49440" y="384505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49440" y="395020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valid_from / valid_to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49440" y="405079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49440" y="415594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is_current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425653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BOOLEAN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0" y="4361688"/>
            <a:ext cx="17465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change_type / change_reason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4462272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49440" y="4622291"/>
            <a:ext cx="1746504" cy="10972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949440" y="4668011"/>
            <a:ext cx="17465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fact_transactions (0..1 → many)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949440" y="4814315"/>
            <a:ext cx="17465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bridge_employee_project (1 → many)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951976" y="1828800"/>
            <a:ext cx="1783080" cy="1357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951976" y="1828800"/>
            <a:ext cx="1783080" cy="292608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061703" y="1828800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dim_vendor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61703" y="2139696"/>
            <a:ext cx="15636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6E6A5E"/>
                </a:solidFill>
                <a:latin typeface="Segoe UI"/>
              </a:rPr>
              <a:t>One row per vendor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61703" y="230428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vendor_key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61703" y="240487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61703" y="251002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vendor_id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61703" y="261061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 — UK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61703" y="271576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vendor_name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61703" y="2816352"/>
            <a:ext cx="1563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61703" y="2976372"/>
            <a:ext cx="1563624" cy="10972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061703" y="3022092"/>
            <a:ext cx="156362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fact_transactions (1 → many)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361688" y="5161788"/>
            <a:ext cx="2331720" cy="1563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361688" y="5161788"/>
            <a:ext cx="2331720" cy="292608"/>
          </a:xfrm>
          <a:prstGeom prst="rect">
            <a:avLst/>
          </a:prstGeom>
          <a:solidFill>
            <a:srgbClr val="353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71416" y="5161788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bridge_employee_project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71416" y="5472684"/>
            <a:ext cx="21122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6E6A5E"/>
                </a:solidFill>
                <a:latin typeface="Segoe UI"/>
              </a:rPr>
              <a:t>Employee-version + project + role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71416" y="5637276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employee_key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471416" y="5737860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 / FK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71416" y="5843016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project_key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71416" y="5943600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INTEGER — PK / FK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471416" y="6048756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role_in_project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471416" y="6149340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VARCHAR — PK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471416" y="6254496"/>
            <a:ext cx="21122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30" b="0" i="0">
                <a:solidFill>
                  <a:srgbClr val="222220"/>
                </a:solidFill>
                <a:latin typeface="Segoe UI"/>
              </a:rPr>
              <a:t>assigned_from / assigned_to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71416" y="6355080"/>
            <a:ext cx="2112263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80" b="0" i="0">
                <a:solidFill>
                  <a:srgbClr val="6E6A5E"/>
                </a:solidFill>
                <a:latin typeface="Segoe UI"/>
              </a:rPr>
              <a:t>DATE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471416" y="6515099"/>
            <a:ext cx="2112263" cy="10972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471416" y="6560819"/>
            <a:ext cx="21122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00" b="1" i="0">
                <a:solidFill>
                  <a:srgbClr val="C4573B"/>
                </a:solidFill>
                <a:latin typeface="Segoe UI"/>
              </a:rPr>
              <a:t>→ connects dim_project + dim_employee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7852" y="457200"/>
            <a:ext cx="2638044" cy="54864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7852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22220"/>
                </a:solidFill>
                <a:latin typeface="Segoe UI"/>
              </a:rPr>
              <a:t>SQL &amp; Viz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5624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Big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96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3396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Infra &amp; 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STAGE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220"/>
                </a:solidFill>
                <a:latin typeface="Segoe UI Semibold"/>
              </a:rPr>
              <a:t>SQL &amp;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E6A5E"/>
                </a:solidFill>
                <a:latin typeface="Segoe UI"/>
              </a:rPr>
              <a:t>Six questions, a measured speed-up, and a dashboard built from real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6858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I built: </a:t>
            </a:r>
            <a:r>
              <a:rPr sz="1200" b="0">
                <a:solidFill>
                  <a:srgbClr val="222220"/>
                </a:solidFill>
                <a:latin typeface="Segoe UI"/>
              </a:rPr>
              <a:t>SQL answers to six business questions against the warehouse, an ETL step that cleans and joins 50,000 transactions, and a two-page dashboard mockup built entirely from the actual cleaned numbers rather than placeholder figures.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I found: </a:t>
            </a:r>
            <a:r>
              <a:rPr sz="1200" b="0">
                <a:solidFill>
                  <a:srgbClr val="222220"/>
                </a:solidFill>
                <a:latin typeface="Segoe UI"/>
              </a:rPr>
              <a:t>two of the six questions come back with no rows at all. Rather than assume that's a bug, I checked the underlying numbers directly — the busiest project manager really does have exactly three active projects, and the largest vendor really is only 4.36% of total spend. Both thresholds in the questions are genuinely not crossed.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Making a query faster: </a:t>
            </a:r>
            <a:r>
              <a:rPr sz="1200" b="0">
                <a:solidFill>
                  <a:srgbClr val="222220"/>
                </a:solidFill>
                <a:latin typeface="Segoe UI"/>
              </a:rPr>
              <a:t>the same slow query showed almost no difference between its original and rewritten form in DuckDB, so I tested it for real on PostgreSQL instead — where indexing it properly made a measurable difference, not just a theoretical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286000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2395728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1.3s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834640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to clean and join all 50,000 transaction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401568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3511296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3.7x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950207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faster on PostgreSQL once the right index was added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517136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46268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2 /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06577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questions genuinely return zero rows — verified, not a 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7852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7852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SQL &amp; Viz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5624" y="457200"/>
            <a:ext cx="2638044" cy="54864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22220"/>
                </a:solidFill>
                <a:latin typeface="Segoe UI"/>
              </a:rPr>
              <a:t>Big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96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3396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Infra &amp; 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STAGE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220"/>
                </a:solidFill>
                <a:latin typeface="Segoe UI Semibold"/>
              </a:rPr>
              <a:t>Big Data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E6A5E"/>
                </a:solidFill>
                <a:latin typeface="Segoe UI"/>
              </a:rPr>
              <a:t>The same kind of data, at a bigger scale and on a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6858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I built: </a:t>
            </a:r>
            <a:r>
              <a:rPr sz="1200" b="0">
                <a:solidFill>
                  <a:srgbClr val="222220"/>
                </a:solidFill>
                <a:latin typeface="Segoe UI"/>
              </a:rPr>
              <a:t>a Spark job that turns twelve months of raw event files into five summary tables, a Kafka producer/consumer pair that mimics a live event feed, and an Airflow DAG that runs the whole cleaning pipeline daily with a quality gate in front of it.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went wrong once, and got fixed: </a:t>
            </a:r>
            <a:r>
              <a:rPr sz="1200" b="0">
                <a:solidFill>
                  <a:srgbClr val="222220"/>
                </a:solidFill>
                <a:latin typeface="Segoe UI"/>
              </a:rPr>
              <a:t>running the pipeline inside Airflow's own environment surfaced a genuine bug that had never appeared anywhere else — an older library version inside that container rejected a value type a newer one accepts. I traced it, patched it, and re-ran the DAG to confirm it now completes end to end.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Why that matters: </a:t>
            </a:r>
            <a:r>
              <a:rPr sz="1200" b="0">
                <a:solidFill>
                  <a:srgbClr val="222220"/>
                </a:solidFill>
                <a:latin typeface="Segoe UI"/>
              </a:rPr>
              <a:t>it's the kind of problem that only shows up when something is actually executed in its real environment, not just read and assumed to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286000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2395728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99,996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834640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events turned into 5 summary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401568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3511296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8,333 / 8,333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950207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Kafka messages sent and received — none lost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517136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46268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06:00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06577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daily Airflow run time, UAE time, with a quality gate in front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7852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7852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SQL &amp; Viz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5624" y="457200"/>
            <a:ext cx="2638044" cy="54864"/>
          </a:xfrm>
          <a:prstGeom prst="rect">
            <a:avLst/>
          </a:prstGeom>
          <a:solidFill>
            <a:srgbClr val="DD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6A5E"/>
                </a:solidFill>
                <a:latin typeface="Segoe UI"/>
              </a:rPr>
              <a:t>Big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96" y="457200"/>
            <a:ext cx="2638044" cy="54864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83396" y="566928"/>
            <a:ext cx="26380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22220"/>
                </a:solidFill>
                <a:latin typeface="Segoe UI"/>
              </a:rPr>
              <a:t>Infra &amp; 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STAGE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220"/>
                </a:solidFill>
                <a:latin typeface="Segoe UI Semibold"/>
              </a:rPr>
              <a:t>Infrastructure &amp;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6420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E6A5E"/>
                </a:solidFill>
                <a:latin typeface="Segoe UI"/>
              </a:rPr>
              <a:t>Packaging the pipeline and writing down the rules around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6858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What I built: </a:t>
            </a:r>
            <a:r>
              <a:rPr sz="1200" b="0">
                <a:solidFill>
                  <a:srgbClr val="222220"/>
                </a:solidFill>
                <a:latin typeface="Segoe UI"/>
              </a:rPr>
              <a:t>a two-stage container that runs the cleaning pipeline the same way on any machine, a document classifying every column across all four datasets, and a quality-check framework whose rules live entirely in a settings file rather than the pipeline code.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The privacy angle: </a:t>
            </a:r>
            <a:r>
              <a:rPr sz="1200" b="0">
                <a:solidFill>
                  <a:srgbClr val="222220"/>
                </a:solidFill>
                <a:latin typeface="Segoe UI"/>
              </a:rPr>
              <a:t>two different regulations apply to this data at once — the UAE's PDPL and Europe's GDPR — and salary history specifically needed its own retention period, longer than an ordinary employee record, because of how long labour disputes can take to resolve.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22220"/>
                </a:solidFill>
                <a:latin typeface="Segoe UI"/>
              </a:rPr>
              <a:t>On the quality checker: </a:t>
            </a:r>
            <a:r>
              <a:rPr sz="1200" b="0">
                <a:solidFill>
                  <a:srgbClr val="222220"/>
                </a:solidFill>
                <a:latin typeface="Segoe UI"/>
              </a:rPr>
              <a:t>I ran it against the real, still-imperfect data rather than a version cleaned up to pass everything — the transactions file genuinely only clears 7 of its 9 checks, and that result is reported as-is.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286000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2395728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3.3s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834640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to run the full cleaning step inside the container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401568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3511296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10 yrs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950207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salary-history retention after someone leaves — longer than normal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517136"/>
            <a:ext cx="3611880" cy="914400"/>
          </a:xfrm>
          <a:prstGeom prst="rect">
            <a:avLst/>
          </a:prstGeom>
          <a:solidFill>
            <a:srgbClr val="EF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46268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4B43"/>
                </a:solidFill>
                <a:latin typeface="Segoe UI Semibold"/>
              </a:rPr>
              <a:t>7 /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06577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quality checks passed on the transactions file, reported honestly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A63A"/>
                </a:solidFill>
                <a:latin typeface="Segoe UI"/>
              </a:rPr>
              <a:t>WHERE THINGS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2220"/>
                </a:solidFill>
                <a:latin typeface="Segoe UI Semibold"/>
              </a:rPr>
              <a:t>Every Task, Actually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A5E"/>
                </a:solidFill>
                <a:latin typeface="Segoe UI"/>
              </a:rPr>
              <a:t>All 13 tasks across the four stages were executed for real — including the three that needed Docker: the PostgreSQL benchmark, the Airflow run, and the container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2606040" cy="1051560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A63A"/>
                </a:solidFill>
                <a:latin typeface="Segoe UI Semibold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2491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E9CE"/>
                </a:solidFill>
                <a:latin typeface="Segoe UI"/>
              </a:rPr>
              <a:t>Foundations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057400"/>
            <a:ext cx="2606040" cy="1051560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A63A"/>
                </a:solidFill>
                <a:latin typeface="Segoe UI Semibold"/>
              </a:rPr>
              <a:t>4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2491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E9CE"/>
                </a:solidFill>
                <a:latin typeface="Segoe UI"/>
              </a:rPr>
              <a:t>SQL &amp; Visualization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2606040" cy="1051560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A63A"/>
                </a:solidFill>
                <a:latin typeface="Segoe UI Semibold"/>
              </a:rPr>
              <a:t>3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2491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E9CE"/>
                </a:solidFill>
                <a:latin typeface="Segoe UI"/>
              </a:rPr>
              <a:t>Big Data 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2057400"/>
            <a:ext cx="2606040" cy="1051560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219456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A63A"/>
                </a:solidFill>
                <a:latin typeface="Segoe UI Semibold"/>
              </a:rPr>
              <a:t>3 /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72491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E9CE"/>
                </a:solidFill>
                <a:latin typeface="Segoe UI"/>
              </a:rPr>
              <a:t>Infrastructure &amp; Governance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566160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1.1 — Clean and enrich projects.csv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950208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90448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1.2 — Build the star-schema warehouse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334256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28853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1.3 — Find and fix employees.csv issues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67258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2.1 — Answer six business questions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102352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05663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2.2 — Full transactions ETL pipeline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486400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44068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2.3 — Make one slow query faster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870448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82472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2.4 — Build a dashboard on real numbers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3566160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59" y="35204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3.1 — Process events with Spark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3950208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59" y="390448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3.2 — Stream events with Kafka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334256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59" y="428853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3.3 — Schedule it all with Airflow</a:t>
            </a:r>
          </a:p>
        </p:txBody>
      </p:sp>
      <p:sp>
        <p:nvSpPr>
          <p:cNvPr id="38" name="Oval 37"/>
          <p:cNvSpPr/>
          <p:nvPr/>
        </p:nvSpPr>
        <p:spPr>
          <a:xfrm>
            <a:off x="6263640" y="4718304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59" y="467258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4.1 — Containerise the pipeline with Docker</a:t>
            </a:r>
          </a:p>
        </p:txBody>
      </p:sp>
      <p:sp>
        <p:nvSpPr>
          <p:cNvPr id="40" name="Oval 39"/>
          <p:cNvSpPr/>
          <p:nvPr/>
        </p:nvSpPr>
        <p:spPr>
          <a:xfrm>
            <a:off x="6263640" y="5102352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59" y="505663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4.2 — Write the data governance document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5486400"/>
            <a:ext cx="146304" cy="146304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59" y="544068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220"/>
                </a:solidFill>
                <a:latin typeface="Segoe UI"/>
              </a:rPr>
              <a:t>4.3 — Build the configurable quality checker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5E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E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640080" cy="640080"/>
          </a:xfrm>
          <a:prstGeom prst="ellipse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4206240"/>
            <a:ext cx="411480" cy="411480"/>
          </a:xfrm>
          <a:prstGeom prst="ellipse">
            <a:avLst/>
          </a:prstGeom>
          <a:solidFill>
            <a:srgbClr val="C45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22220"/>
                </a:solidFill>
                <a:latin typeface="Segoe UI Semi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E6A5E"/>
                </a:solidFill>
                <a:latin typeface="Segoe UI"/>
              </a:rPr>
              <a:t>Glad to answer questions — including about what didn't go smoothly.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365760" cy="45720"/>
          </a:xfrm>
          <a:prstGeom prst="rect">
            <a:avLst/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6A5E"/>
                </a:solidFill>
                <a:latin typeface="Segoe UI"/>
              </a:rPr>
              <a:t>Mohammed Faisal · Presight Data Engineering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1682</Words>
  <Application>Microsoft Office PowerPoint</Application>
  <PresentationFormat>Widescreen</PresentationFormat>
  <Paragraphs>245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Faisal</cp:lastModifiedBy>
  <cp:revision>1</cp:revision>
  <dcterms:created xsi:type="dcterms:W3CDTF">2013-01-27T09:14:16Z</dcterms:created>
  <dcterms:modified xsi:type="dcterms:W3CDTF">2026-09-27T17:56:19Z</dcterms:modified>
  <cp:category/>
</cp:coreProperties>
</file>